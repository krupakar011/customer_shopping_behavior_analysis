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B1F4B"/>
                </a:solidFill>
                <a:latin typeface="Arial"/>
              </a:rPr>
              <a:t>Revenue by Category &amp;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Footwear</c:v>
                </c:pt>
                <c:pt idx="2">
                  <c:v>Accessories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18200</c:v>
                </c:pt>
                <c:pt idx="1">
                  <c:v>14500</c:v>
                </c:pt>
                <c:pt idx="2">
                  <c:v>11800</c:v>
                </c:pt>
                <c:pt idx="3">
                  <c:v>9200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D-4A4D-B694-3AA8D1F03D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Footwear</c:v>
                </c:pt>
                <c:pt idx="2">
                  <c:v>Accessories</c:v>
                </c:pt>
                <c:pt idx="3">
                  <c:v>Outerwear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17900</c:v>
                </c:pt>
                <c:pt idx="1">
                  <c:v>15200</c:v>
                </c:pt>
                <c:pt idx="2">
                  <c:v>12100</c:v>
                </c:pt>
                <c:pt idx="3">
                  <c:v>8700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BD-4A4D-B694-3AA8D1F03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Usage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F7-4DF9-92DB-08D682A733B7}"/>
              </c:ext>
            </c:extLst>
          </c:dPt>
          <c:dPt>
            <c:idx val="1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F7-4DF9-92DB-08D682A733B7}"/>
              </c:ext>
            </c:extLst>
          </c:dPt>
          <c:dPt>
            <c:idx val="2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F7-4DF9-92DB-08D682A733B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F7-4DF9-92DB-08D682A733B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F7-4DF9-92DB-08D682A733B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F7-4DF9-92DB-08D682A733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High-Value Disc Users</c:v>
                </c:pt>
                <c:pt idx="1">
                  <c:v>Low-Value Disc Users</c:v>
                </c:pt>
                <c:pt idx="2">
                  <c:v>No Discount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34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5F7-4DF9-92DB-08D682A733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Amount ($)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03-4F53-A610-A9917971721A}"/>
              </c:ext>
            </c:extLst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03-4F53-A610-A9917971721A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03-4F53-A610-A9917971721A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203-4F53-A610-A991797172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Promo Code</c:v>
                </c:pt>
                <c:pt idx="2">
                  <c:v>Discount Applied</c:v>
                </c:pt>
                <c:pt idx="3">
                  <c:v>Both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55.1</c:v>
                </c:pt>
                <c:pt idx="1">
                  <c:v>68.400000000000006</c:v>
                </c:pt>
                <c:pt idx="2">
                  <c:v>74.3</c:v>
                </c:pt>
                <c:pt idx="3">
                  <c:v>81.7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03-4F53-A610-A991797172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B1F4B"/>
                </a:solidFill>
                <a:latin typeface="Arial"/>
              </a:rPr>
              <a:t>Monthly Revenue, Costs &amp; Profit Trend ($K)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240</c:v>
                </c:pt>
                <c:pt idx="1">
                  <c:v>215</c:v>
                </c:pt>
                <c:pt idx="2">
                  <c:v>265</c:v>
                </c:pt>
                <c:pt idx="3">
                  <c:v>230</c:v>
                </c:pt>
                <c:pt idx="4">
                  <c:v>280</c:v>
                </c:pt>
                <c:pt idx="5">
                  <c:v>310</c:v>
                </c:pt>
                <c:pt idx="6">
                  <c:v>295</c:v>
                </c:pt>
                <c:pt idx="7">
                  <c:v>320</c:v>
                </c:pt>
                <c:pt idx="8">
                  <c:v>290</c:v>
                </c:pt>
                <c:pt idx="9">
                  <c:v>350</c:v>
                </c:pt>
                <c:pt idx="10">
                  <c:v>380</c:v>
                </c:pt>
                <c:pt idx="11">
                  <c:v>420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22A-4602-BC48-898B87993E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ln w="31750" cap="flat">
              <a:solidFill>
                <a:srgbClr val="F43F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88</c:v>
                </c:pt>
                <c:pt idx="1">
                  <c:v>79</c:v>
                </c:pt>
                <c:pt idx="2">
                  <c:v>96</c:v>
                </c:pt>
                <c:pt idx="3">
                  <c:v>84</c:v>
                </c:pt>
                <c:pt idx="4">
                  <c:v>102</c:v>
                </c:pt>
                <c:pt idx="5">
                  <c:v>114</c:v>
                </c:pt>
                <c:pt idx="6">
                  <c:v>108</c:v>
                </c:pt>
                <c:pt idx="7">
                  <c:v>117</c:v>
                </c:pt>
                <c:pt idx="8">
                  <c:v>106</c:v>
                </c:pt>
                <c:pt idx="9">
                  <c:v>128</c:v>
                </c:pt>
                <c:pt idx="10">
                  <c:v>139</c:v>
                </c:pt>
                <c:pt idx="11">
                  <c:v>154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22A-4602-BC48-898B87993E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Gross Profit</c:v>
                </c:pt>
              </c:strCache>
            </c:strRef>
          </c:tx>
          <c:spPr>
            <a:ln w="31750" cap="flat">
              <a:solidFill>
                <a:srgbClr val="0EA5E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152</c:v>
                </c:pt>
                <c:pt idx="1">
                  <c:v>136</c:v>
                </c:pt>
                <c:pt idx="2">
                  <c:v>169</c:v>
                </c:pt>
                <c:pt idx="3">
                  <c:v>146</c:v>
                </c:pt>
                <c:pt idx="4">
                  <c:v>178</c:v>
                </c:pt>
                <c:pt idx="5">
                  <c:v>196</c:v>
                </c:pt>
                <c:pt idx="6">
                  <c:v>187</c:v>
                </c:pt>
                <c:pt idx="7">
                  <c:v>203</c:v>
                </c:pt>
                <c:pt idx="8">
                  <c:v>184</c:v>
                </c:pt>
                <c:pt idx="9">
                  <c:v>222</c:v>
                </c:pt>
                <c:pt idx="10">
                  <c:v>241</c:v>
                </c:pt>
                <c:pt idx="11">
                  <c:v>266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22A-4602-BC48-898B87993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4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B1F4B"/>
                </a:solidFill>
                <a:latin typeface="Arial"/>
              </a:rPr>
              <a:t>Avg. Spend by Shipping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($)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Free Shipping</c:v>
                </c:pt>
                <c:pt idx="1">
                  <c:v>Standard</c:v>
                </c:pt>
                <c:pt idx="2">
                  <c:v>Express</c:v>
                </c:pt>
                <c:pt idx="3">
                  <c:v>Store Pickup</c:v>
                </c:pt>
                <c:pt idx="4">
                  <c:v>Next Day Air</c:v>
                </c:pt>
                <c:pt idx="5">
                  <c:v>2-Day Shipping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62.5</c:v>
                </c:pt>
                <c:pt idx="1">
                  <c:v>59.1</c:v>
                </c:pt>
                <c:pt idx="2">
                  <c:v>65.400000000000006</c:v>
                </c:pt>
                <c:pt idx="3">
                  <c:v>57.8</c:v>
                </c:pt>
                <c:pt idx="4">
                  <c:v>71.2</c:v>
                </c:pt>
                <c:pt idx="5">
                  <c:v>68.900000000000006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E7-4C19-8835-8853AB2EE1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Footwear</c:v>
                </c:pt>
                <c:pt idx="2">
                  <c:v>Accessories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72.099999999999994</c:v>
                </c:pt>
                <c:pt idx="1">
                  <c:v>68.400000000000006</c:v>
                </c:pt>
                <c:pt idx="2">
                  <c:v>65.2</c:v>
                </c:pt>
                <c:pt idx="3">
                  <c:v>70.8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BC-44B4-A5B7-9931AD5171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Non-Subscribers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Footwear</c:v>
                </c:pt>
                <c:pt idx="2">
                  <c:v>Accessories</c:v>
                </c:pt>
                <c:pt idx="3">
                  <c:v>Outerwear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55.3</c:v>
                </c:pt>
                <c:pt idx="1">
                  <c:v>58.1</c:v>
                </c:pt>
                <c:pt idx="2">
                  <c:v>53.9</c:v>
                </c:pt>
                <c:pt idx="3">
                  <c:v>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BC-44B4-A5B7-9931AD5171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D6-49B3-8DDF-2D69D08EC8D8}"/>
              </c:ext>
            </c:extLst>
          </c:dPt>
          <c:dPt>
            <c:idx val="1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D6-49B3-8DDF-2D69D08EC8D8}"/>
              </c:ext>
            </c:extLst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D6-49B3-8DDF-2D69D08EC8D8}"/>
              </c:ext>
            </c:extLst>
          </c:dPt>
          <c:dPt>
            <c:idx val="3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D6-49B3-8DDF-2D69D08EC8D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D6-49B3-8DDF-2D69D08EC8D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D6-49B3-8DDF-2D69D08EC8D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7D6-49B3-8DDF-2D69D08EC8D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7D6-49B3-8DDF-2D69D08EC8D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Premium Loyalists</c:v>
                </c:pt>
                <c:pt idx="1">
                  <c:v>Discount Hunters</c:v>
                </c:pt>
                <c:pt idx="2">
                  <c:v>Seasonal Buyers</c:v>
                </c:pt>
                <c:pt idx="3">
                  <c:v>Budget Explorers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24</c:v>
                </c:pt>
                <c:pt idx="3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7D6-49B3-8DDF-2D69D08EC8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5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39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C8F"/>
          </a:solidFill>
          <a:ln w="12700">
            <a:solidFill>
              <a:srgbClr val="1A3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0"/>
            <a:ext cx="640080" cy="5143500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200400"/>
            <a:ext cx="1645920" cy="164592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640080"/>
            <a:ext cx="201168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640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ANALYTICS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11430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74320" y="184708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274320" y="2788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patterns behind purchases, preferences &amp; profitability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" y="31729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advanced segmentation, discount analysis &amp; shipping impact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274320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  |  Retail &amp; E-Commerce Division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DATA OVERVIEW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Dataset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snapshot of customer records used for behavioral analysis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783080"/>
            <a:ext cx="1920240" cy="13716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3,900+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2004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68880" y="1783080"/>
            <a:ext cx="192024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19202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6888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246888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17720" y="1783080"/>
            <a:ext cx="1920240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92024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1772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461772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766560" y="1783080"/>
            <a:ext cx="19202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92024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6656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15"/>
          <p:cNvSpPr/>
          <p:nvPr/>
        </p:nvSpPr>
        <p:spPr>
          <a:xfrm>
            <a:off x="6766560" y="2788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Covered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6576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Features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65760" y="3822192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66928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65760" y="411480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66928" y="4041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Purchased, Category, Purchase Amount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65760" y="4407408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66928" y="4334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Rating, Subscription Status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822192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956048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Applied, Promo Code Used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754880" y="411480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956048" y="4041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Type, Payment Method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754880" y="4407408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956048" y="4334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Purchase, Previous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DATA PREPARATION PROCESS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Analysis-Ready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6052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0292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raw CSV dataset with 3,900+ customer transaction records from retail sources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578608"/>
            <a:ext cx="416052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78608"/>
            <a:ext cx="5029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7860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handled null entries; imputed or removed records with &gt;30% missing attributes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16052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94176"/>
            <a:ext cx="50292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9417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041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categorical columns (Gender, Season) to encoded formats; parsed date fields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416052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63040"/>
            <a:ext cx="50292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630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8105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IQR method on Purchase Amount to detect and remove statistical anomalies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578608"/>
            <a:ext cx="416052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78608"/>
            <a:ext cx="5029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7860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derived features: Revenue Tier, High-Value flag, and Discount Utilization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94176"/>
            <a:ext cx="4160520" cy="91440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94176"/>
            <a:ext cx="5029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9417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&amp; Export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041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numeric fields and exported clean dataset for EDA and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REVENUE BY GENDER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Purchase Patterns Across Male &amp; Female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103120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2907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 Avg Spend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97480" y="1371600"/>
            <a:ext cx="2103120" cy="21945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6304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9748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697480" y="2907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$60.2 Avg Spend</a:t>
            </a:r>
            <a:endParaRPr lang="en-US" sz="10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846320" y="1188720"/>
          <a:ext cx="4023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Shape 11"/>
          <p:cNvSpPr/>
          <p:nvPr/>
        </p:nvSpPr>
        <p:spPr>
          <a:xfrm>
            <a:off x="320040" y="3749040"/>
            <a:ext cx="4251960" cy="1024128"/>
          </a:xfrm>
          <a:prstGeom prst="rect">
            <a:avLst/>
          </a:prstGeom>
          <a:solidFill>
            <a:srgbClr val="E8F0FE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11480" y="37947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11480" y="40690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exhibit slightly higher average spend across all categories. Footwear drives the widest gender gap in revenue contribution, suggesting targeted promotions can bridge the gap effectively.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</a:rPr>
              <a:t>HIGH-VALUE DISCOUNT USERS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Spend More Despite Using Discounts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2024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Discount/Promo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115568"/>
            <a:ext cx="192024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$74.3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50592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(With Disc.)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$55.1 without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115568"/>
            <a:ext cx="192024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Lifetime 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non-discount users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1115568"/>
            <a:ext cx="192024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1704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03136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discount users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560320"/>
          <a:ext cx="4023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/>
        </p:nvGraphicFramePr>
        <p:xfrm>
          <a:off x="4572000" y="2560320"/>
          <a:ext cx="42976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TOP-RATED PRODUCTS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Highest Customer Review Ratings (4.5★ and above)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605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572768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43584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/ 5.0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0" y="1673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892 sales  |  $52,640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05840" y="2194560"/>
            <a:ext cx="32461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194560"/>
            <a:ext cx="259689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2487168"/>
            <a:ext cx="41605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734056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2724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43584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5.0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92608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745 sales  |  $46,120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005840" y="3355848"/>
            <a:ext cx="32461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05840" y="3355848"/>
            <a:ext cx="2272284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74320" y="3648456"/>
            <a:ext cx="41605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84048" y="3895344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84048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005840" y="3721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005840" y="4032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88536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43584" y="4270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5.0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2926080" y="3995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 sales  |  $43,880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1005840" y="4517136"/>
            <a:ext cx="32461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05840" y="4517136"/>
            <a:ext cx="2272284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709160" y="1325880"/>
            <a:ext cx="41605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818888" y="1572768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818888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5440680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544068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0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965960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678424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/ 5.0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360920" y="1673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 sales  |  $48,200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5440680" y="2194560"/>
            <a:ext cx="32461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440680" y="2194560"/>
            <a:ext cx="1947672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709160" y="2487168"/>
            <a:ext cx="41605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818888" y="2734056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818888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544068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5440680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0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127248"/>
            <a:ext cx="201168" cy="20116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678424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/ 5.0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736092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 sales  |  $28,350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5440680" y="3355848"/>
            <a:ext cx="32461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440680" y="3355848"/>
            <a:ext cx="1947672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4709160" y="3648456"/>
            <a:ext cx="4160520" cy="10058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4818888" y="3895344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4818888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8" name="Text 51"/>
          <p:cNvSpPr/>
          <p:nvPr/>
        </p:nvSpPr>
        <p:spPr>
          <a:xfrm>
            <a:off x="5440680" y="3721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1300" dirty="0"/>
          </a:p>
        </p:txBody>
      </p:sp>
      <p:sp>
        <p:nvSpPr>
          <p:cNvPr id="59" name="Text 52"/>
          <p:cNvSpPr/>
          <p:nvPr/>
        </p:nvSpPr>
        <p:spPr>
          <a:xfrm>
            <a:off x="5440680" y="4032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000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4288536"/>
            <a:ext cx="201168" cy="201168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5678424" y="4270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/ 5.0</a:t>
            </a:r>
            <a:endParaRPr lang="en-US" sz="1000" dirty="0"/>
          </a:p>
        </p:txBody>
      </p:sp>
      <p:sp>
        <p:nvSpPr>
          <p:cNvPr id="62" name="Text 54"/>
          <p:cNvSpPr/>
          <p:nvPr/>
        </p:nvSpPr>
        <p:spPr>
          <a:xfrm>
            <a:off x="7360920" y="3995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 sales  |  $61,790</a:t>
            </a:r>
            <a:endParaRPr lang="en-US" sz="950" dirty="0"/>
          </a:p>
        </p:txBody>
      </p:sp>
      <p:sp>
        <p:nvSpPr>
          <p:cNvPr id="63" name="Shape 55"/>
          <p:cNvSpPr/>
          <p:nvPr/>
        </p:nvSpPr>
        <p:spPr>
          <a:xfrm>
            <a:off x="5440680" y="4517136"/>
            <a:ext cx="32461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5440680" y="4517136"/>
            <a:ext cx="162306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PROFIT AND LOSS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Summary Across Customer Segments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20240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38988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856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$3.18M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1325880"/>
            <a:ext cx="1920240" cy="12618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89888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50592" y="1856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450592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26864" y="1325880"/>
            <a:ext cx="1920240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389888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26864" y="1856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$2.06M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4626864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803136" y="1325880"/>
            <a:ext cx="1920240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1389888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03136" y="1856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6803136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788920"/>
          <a:ext cx="8595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SHIPPING PREFERENCE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Delivery Method Affects Revenue &amp; Customer Satisfaction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2588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371600"/>
            <a:ext cx="3566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371600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68112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 Air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68112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spend at $71.2 — premium buyers prefer speed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2560320"/>
            <a:ext cx="3566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256032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68112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68112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most volume; 28% of all orders selected this option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749040"/>
            <a:ext cx="3566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0" y="37490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68112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Pickup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68112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spend; budget-conscious segment behaviour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SUBSCRIPTION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Non-Subscribers: Revenue &amp; Loyalty Comparison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1920240" cy="1280160"/>
          </a:xfrm>
          <a:prstGeom prst="rect">
            <a:avLst/>
          </a:prstGeom>
          <a:solidFill>
            <a:srgbClr val="0F2A1A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353312"/>
            <a:ext cx="1920240" cy="1280160"/>
          </a:xfrm>
          <a:prstGeom prst="rect">
            <a:avLst/>
          </a:prstGeom>
          <a:solidFill>
            <a:srgbClr val="0F2A1A"/>
          </a:solidFill>
          <a:ln w="1905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$68.9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96312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96312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353312"/>
            <a:ext cx="1920240" cy="1280160"/>
          </a:xfrm>
          <a:prstGeom prst="rect">
            <a:avLst/>
          </a:prstGeom>
          <a:solidFill>
            <a:srgbClr val="0F2A1A"/>
          </a:solidFill>
          <a:ln w="19050">
            <a:solidFill>
              <a:srgbClr val="94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$57.4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72584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72584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48856" y="1353312"/>
            <a:ext cx="1920240" cy="1280160"/>
          </a:xfrm>
          <a:prstGeom prst="rect">
            <a:avLst/>
          </a:prstGeom>
          <a:solidFill>
            <a:srgbClr val="0F2A1A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3898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48856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48856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788920"/>
          <a:ext cx="53949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760720" y="2788920"/>
            <a:ext cx="3108960" cy="2103120"/>
          </a:xfrm>
          <a:prstGeom prst="rect">
            <a:avLst/>
          </a:prstGeom>
          <a:solidFill>
            <a:srgbClr val="0D2B1E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85216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Subscription Insight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52160" y="320040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generate 20% higher revenue per transaction. They shop 2.1x more frequently and have a significantly lower churn rate. Loyalty programs tied to subscriptions show strong ROI potential.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</a:rPr>
              <a:t>CUSTOMER SEGMENTATION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Clusters That Define Your Customer Base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80160"/>
          <a:ext cx="4023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298448"/>
            <a:ext cx="429768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0" y="1298448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45152" y="1463040"/>
            <a:ext cx="502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45152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57800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Loyalists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57800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• Subscribers • Frequent buyers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8952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revenue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2194560"/>
            <a:ext cx="429768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2194560"/>
            <a:ext cx="54864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2359152"/>
            <a:ext cx="502920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45152" y="2359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31%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5780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Hunters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780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uses promo codes • Moderate spend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58952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$890K revenue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3090672"/>
            <a:ext cx="429768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3090672"/>
            <a:ext cx="54864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45152" y="3255264"/>
            <a:ext cx="5029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45152" y="32552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24%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57800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Buyers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57800" y="3474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in peak seasons • One-time spenders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58952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$670K revenue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0" y="3986784"/>
            <a:ext cx="4297680" cy="777240"/>
          </a:xfrm>
          <a:prstGeom prst="rect">
            <a:avLst/>
          </a:prstGeom>
          <a:solidFill>
            <a:srgbClr val="F0F5FF"/>
          </a:solidFill>
          <a:ln w="12700">
            <a:solidFill>
              <a:srgbClr val="E8F0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0" y="3986784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45152" y="4151376"/>
            <a:ext cx="5029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45152" y="41513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27%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57800" y="4059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Explorers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25780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• New customers • Footwear heavy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589520" y="4242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 revenue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B1F4B"/>
                </a:solidFill>
              </a:rPr>
              <a:t>STRATEGIC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to Drive Growth &amp; Retention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743200" cy="1508760"/>
          </a:xfrm>
          <a:prstGeom prst="rect">
            <a:avLst/>
          </a:prstGeom>
          <a:solidFill>
            <a:srgbClr val="0B1F4B"/>
          </a:solidFill>
          <a:ln w="1524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630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444752"/>
            <a:ext cx="548640" cy="2286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444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Premium Loyalty Program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947672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18% Premium Loyalists with tiered rewards. Offer exclusive early access and free express shipping to increase LTV.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353312"/>
            <a:ext cx="2743200" cy="1508760"/>
          </a:xfrm>
          <a:prstGeom prst="rect">
            <a:avLst/>
          </a:prstGeom>
          <a:solidFill>
            <a:srgbClr val="0B1F4B"/>
          </a:solidFill>
          <a:ln w="15240">
            <a:solidFill>
              <a:srgbClr val="F43F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46304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444752"/>
            <a:ext cx="548640" cy="2286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444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94760" y="1444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Discount Targeting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947672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 clustering to send promo codes only to Discount Hunters — avoid over-discounting for high-value customers.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353312"/>
            <a:ext cx="2743200" cy="1508760"/>
          </a:xfrm>
          <a:prstGeom prst="rect">
            <a:avLst/>
          </a:prstGeom>
          <a:solidFill>
            <a:srgbClr val="0B1F4B"/>
          </a:solidFill>
          <a:ln w="1524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146304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1444752"/>
            <a:ext cx="5486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444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20840" y="1444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Gender Campaign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1947672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gender-specific footwear promotions to close the revenue gap and increase female customer engagement.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72384"/>
            <a:ext cx="2743200" cy="1508760"/>
          </a:xfrm>
          <a:prstGeom prst="rect">
            <a:avLst/>
          </a:prstGeom>
          <a:solidFill>
            <a:srgbClr val="0B1F4B"/>
          </a:solidFill>
          <a:ln w="1524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18211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77440" y="3163824"/>
            <a:ext cx="5486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1638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8680" y="3163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Upsell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" y="3666744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opt for Next Day Air spend 20% more. Promote premium shipping at checkout via AI-driven nudges.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3072384"/>
            <a:ext cx="2743200" cy="1508760"/>
          </a:xfrm>
          <a:prstGeom prst="rect">
            <a:avLst/>
          </a:prstGeom>
          <a:solidFill>
            <a:srgbClr val="0B1F4B"/>
          </a:solidFill>
          <a:ln w="1524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10128" y="318211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0" y="3163824"/>
            <a:ext cx="5486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1638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94760" y="3163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Buyer Conversion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10128" y="3666744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the 24% Seasonal Buyers with targeted off-season deals to convert them into regular shoppers.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3072384"/>
            <a:ext cx="2743200" cy="1508760"/>
          </a:xfrm>
          <a:prstGeom prst="rect">
            <a:avLst/>
          </a:prstGeom>
          <a:solidFill>
            <a:srgbClr val="0B1F4B"/>
          </a:solidFill>
          <a:ln w="1524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318211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3163824"/>
            <a:ext cx="548640" cy="2286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31638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20840" y="3163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Drive Campaign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36208" y="3666744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2.1x purchase frequency advantage of subscribers in marketing materials to drive enrollment.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Office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Data Analytics Team</dc:creator>
  <cp:lastModifiedBy>divya krupakar</cp:lastModifiedBy>
  <cp:revision>2</cp:revision>
  <dcterms:created xsi:type="dcterms:W3CDTF">2026-05-20T07:53:11Z</dcterms:created>
  <dcterms:modified xsi:type="dcterms:W3CDTF">2026-05-20T07:57:21Z</dcterms:modified>
</cp:coreProperties>
</file>